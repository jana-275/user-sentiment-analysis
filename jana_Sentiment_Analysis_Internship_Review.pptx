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+mn-lt"/>
              </a:rPr>
              <a:t>Recall by class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A5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9E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Negative</c:v>
                  </c:pt>
                  <c:pt idx="1">
                    <c:v>Neutral</c:v>
                  </c:pt>
                  <c:pt idx="2">
                    <c:v>Positive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81.9</c:v>
                </c:pt>
                <c:pt idx="1">
                  <c:v>30.3</c:v>
                </c:pt>
                <c:pt idx="2">
                  <c:v>77.6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sentiment analysis system that classifies customer reviews as positive, negative or neutral. Done during the 30-day internship at Fantasy Solution, June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Internship ran 1-30 June 2026 at Fantasy Solution, Trichy, in Data Science and Machine Learning, under joint supervisor Mohamed Ibrahim.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goals: practical ML experience, stronger Python and analysis skills, understanding the end-to-end data science lifecycle, and delivering a working sentiment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four stages: foundations (statistics, preprocessing, evaluation), core ML algorithms including NLP, advanced topics (deep learning, big data, SQL), and deployment/operations (Flask, Docker, Airflow, cloud). Day 27 was a review and summary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review is not scalable and rule-based systems struggle with context. We chose TF-IDF with classic classifiers (Naive Bayes, Logistic Regression, SVM) over deep models like BERT because they are lighter, more interpretable and run on a standard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stages from dataset to prediction. The input review is cleaned, converted into TF-IDF vectors and passed to the trained model, which outputs one of three sentiment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lightweight: Python with Pandas, NumPy, NLTK and Scikit-learn. Models like Naive Bayes, Logistic Regression and SVM train comfortably on a CPU for a moderate dataset, so no GPU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pipeline: load data, clean text with regular expressions, stratified 80/20 split with random_state 42, TF-IDF vectorizer capped at 5,000 features, then Logistic Regression. Naive Bayes and SVM were also considered for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63.29% (2,848 of 4,500 correct). Per-class recall computed from the matrix: negative 81.9%, neutral 30.3%, positive 77.6%. Neutral reviews are often confused with negative or positive, which is a known difficulty for sentiment models. Improving neutral handling is a clear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was achieved and what was learned. Future work: LSTM/GRU, BERT, multilingual support (Tamil, Hindi), aspect-based sentiment and real-time analysis.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Sentiment Analysis of Customer Reviews  |  Internship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Sentiment Analysis of Customer Reviews  |  Internship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/>
        </p:nvSpPr>
        <p:spPr>
          <a:xfrm>
            <a:off x="548640" y="6400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SUMMER INTERNSHIP REVIEW  |  IT3711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548640" y="1097280"/>
            <a:ext cx="51207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Sentiment Analysis of Customer Reviews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548640" y="2697480"/>
            <a:ext cx="4937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Using Natural Language Processing and Machine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548640" y="3611880"/>
            <a:ext cx="5120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Janahan E </a:t>
            </a: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(8100232050</a:t>
            </a: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94)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B.Tech. Information Technology, Semester VII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College of Engineering (BIT Campus), Anna University, Tiruchirap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6492240" y="914400"/>
            <a:ext cx="1005900" cy="1005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 txBox="1"/>
          <p:nvPr/>
        </p:nvSpPr>
        <p:spPr>
          <a:xfrm>
            <a:off x="7680960" y="1234440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6492240" y="2103120"/>
            <a:ext cx="1005900" cy="1005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7680960" y="2423160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6492240" y="3291840"/>
            <a:ext cx="1005900" cy="1005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"/>
          <p:cNvSpPr txBox="1"/>
          <p:nvPr/>
        </p:nvSpPr>
        <p:spPr>
          <a:xfrm>
            <a:off x="7680960" y="3611880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 txBox="1"/>
          <p:nvPr>
            <p:ph idx="100" type="title"/>
          </p:nvPr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mbria"/>
              <a:buNone/>
            </a:pPr>
            <a:r>
              <a:t/>
            </a:r>
            <a:endParaRPr sz="3200"/>
          </a:p>
        </p:txBody>
      </p:sp>
      <p:sp>
        <p:nvSpPr>
          <p:cNvPr id="68" name="Google Shape;68;p1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Internship at a Glance</a:t>
            </a:r>
            <a:endParaRPr lang="en-US" sz="3200" dirty="0"/>
          </a:p>
        </p:txBody>
      </p:sp>
      <p:sp>
        <p:nvSpPr>
          <p:cNvPr id="3" name="glance0"/>
          <p:cNvSpPr/>
          <p:nvPr/>
        </p:nvSpPr>
        <p:spPr>
          <a:xfrm>
            <a:off x="457200" y="114300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DURATION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30 days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1 - 30 June 2026</a:t>
            </a:r>
            <a:endParaRPr lang="en-US" sz="1400" dirty="0"/>
          </a:p>
        </p:txBody>
      </p:sp>
      <p:sp>
        <p:nvSpPr>
          <p:cNvPr id="7" name="glance1"/>
          <p:cNvSpPr/>
          <p:nvPr/>
        </p:nvSpPr>
        <p:spPr>
          <a:xfrm>
            <a:off x="4663440" y="114300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ORGANISATION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Fantasy Solution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Melapudur, Trichy</a:t>
            </a:r>
            <a:endParaRPr lang="en-US" sz="1400" dirty="0"/>
          </a:p>
        </p:txBody>
      </p:sp>
      <p:sp>
        <p:nvSpPr>
          <p:cNvPr id="11" name="glance2"/>
          <p:cNvSpPr/>
          <p:nvPr/>
        </p:nvSpPr>
        <p:spPr>
          <a:xfrm>
            <a:off x="457200" y="260604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DOMAIN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 Science &amp; ML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Course IT3711, 7th semester</a:t>
            </a:r>
            <a:endParaRPr lang="en-US" sz="1400" dirty="0"/>
          </a:p>
        </p:txBody>
      </p:sp>
      <p:sp>
        <p:nvSpPr>
          <p:cNvPr id="15" name="glance3"/>
          <p:cNvSpPr/>
          <p:nvPr/>
        </p:nvSpPr>
        <p:spPr>
          <a:xfrm>
            <a:off x="4663440" y="260604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JOINT SUPERVISOR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Mohamed Ibrahim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Software Developer, MCA</a:t>
            </a:r>
            <a:endParaRPr lang="en-US" sz="1400" dirty="0"/>
          </a:p>
        </p:txBody>
      </p:sp>
      <p:sp>
        <p:nvSpPr>
          <p:cNvPr id="19" name="projectbar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Project: Sentiment Analysis of Customer Reviews using NLP and Machine Learning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obj0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1430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Gain hands-on experience in Data Science and Machine Learning on real-world data</a:t>
            </a:r>
            <a:endParaRPr lang="en-US" sz="1600" dirty="0"/>
          </a:p>
        </p:txBody>
      </p:sp>
      <p:sp>
        <p:nvSpPr>
          <p:cNvPr id="7" name="obj1"/>
          <p:cNvSpPr/>
          <p:nvPr/>
        </p:nvSpPr>
        <p:spPr>
          <a:xfrm>
            <a:off x="457200" y="201168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8" name="badge2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01168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Strengthen Python, data preprocessing, EDA and data visualization skills</a:t>
            </a:r>
            <a:endParaRPr lang="en-US" sz="1600" dirty="0"/>
          </a:p>
        </p:txBody>
      </p:sp>
      <p:sp>
        <p:nvSpPr>
          <p:cNvPr id="11" name="obj2"/>
          <p:cNvSpPr/>
          <p:nvPr/>
        </p:nvSpPr>
        <p:spPr>
          <a:xfrm>
            <a:off x="457200" y="288036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2" name="badge3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88036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Understand the full workflow: collection, cleaning, features, modelling, evaluation</a:t>
            </a:r>
            <a:endParaRPr lang="en-US" sz="1600" dirty="0"/>
          </a:p>
        </p:txBody>
      </p:sp>
      <p:sp>
        <p:nvSpPr>
          <p:cNvPr id="15" name="obj3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6" name="badge4"/>
          <p:cNvSpPr/>
          <p:nvPr/>
        </p:nvSpPr>
        <p:spPr>
          <a:xfrm>
            <a:off x="685800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7490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Build a system that classifies customer reviews using NLP and ML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30 Days of Learning</a:t>
            </a:r>
            <a:endParaRPr lang="en-US" sz="3200" dirty="0"/>
          </a:p>
        </p:txBody>
      </p:sp>
      <p:sp>
        <p:nvSpPr>
          <p:cNvPr id="3" name="phase0"/>
          <p:cNvSpPr/>
          <p:nvPr/>
        </p:nvSpPr>
        <p:spPr>
          <a:xfrm>
            <a:off x="45720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4" name="phasehead0"/>
          <p:cNvSpPr/>
          <p:nvPr/>
        </p:nvSpPr>
        <p:spPr>
          <a:xfrm>
            <a:off x="45720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DAYS 1-7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Foundations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Statistics &amp; probability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 preprocessing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EDA &amp; visualization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evaluation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Hyperparameter tuning</a:t>
            </a:r>
            <a:endParaRPr lang="en-US" sz="1400" dirty="0"/>
          </a:p>
        </p:txBody>
      </p:sp>
      <p:sp>
        <p:nvSpPr>
          <p:cNvPr id="8" name="phase1"/>
          <p:cNvSpPr/>
          <p:nvPr/>
        </p:nvSpPr>
        <p:spPr>
          <a:xfrm>
            <a:off x="256032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9" name="phasehead1"/>
          <p:cNvSpPr/>
          <p:nvPr/>
        </p:nvSpPr>
        <p:spPr>
          <a:xfrm>
            <a:off x="256032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DAYS 8-15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Core ML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Classification &amp; regression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Clustering, PCA, t-SNE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NLP &amp; time series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Recommenders, ensembles</a:t>
            </a:r>
            <a:endParaRPr lang="en-US" sz="1400" dirty="0"/>
          </a:p>
        </p:txBody>
      </p:sp>
      <p:sp>
        <p:nvSpPr>
          <p:cNvPr id="13" name="phase2"/>
          <p:cNvSpPr/>
          <p:nvPr/>
        </p:nvSpPr>
        <p:spPr>
          <a:xfrm>
            <a:off x="466344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phasehead2"/>
          <p:cNvSpPr/>
          <p:nvPr/>
        </p:nvSpPr>
        <p:spPr>
          <a:xfrm>
            <a:off x="466344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DAYS 16-24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Advanced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Deep learning: ANN, CNN, RNN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Transfer learning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Computer vision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Tableau, Big Data, SQL</a:t>
            </a:r>
            <a:endParaRPr lang="en-US" sz="1400" dirty="0"/>
          </a:p>
        </p:txBody>
      </p:sp>
      <p:sp>
        <p:nvSpPr>
          <p:cNvPr id="18" name="phase3"/>
          <p:cNvSpPr/>
          <p:nvPr/>
        </p:nvSpPr>
        <p:spPr>
          <a:xfrm>
            <a:off x="676656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9" name="phasehead3"/>
          <p:cNvSpPr/>
          <p:nvPr/>
        </p:nvSpPr>
        <p:spPr>
          <a:xfrm>
            <a:off x="6766560" y="114300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03720" y="12618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DAYS 25-30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Deployment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Flask, FastAPI, Docker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monitoring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Airflow pipelines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AWS &amp; Google Cloud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and Proposed Solution</a:t>
            </a:r>
            <a:endParaRPr lang="en-US" sz="3200" dirty="0"/>
          </a:p>
        </p:txBody>
      </p:sp>
      <p:sp>
        <p:nvSpPr>
          <p:cNvPr id="3" name="problemcard"/>
          <p:cNvSpPr/>
          <p:nvPr/>
        </p:nvSpPr>
        <p:spPr>
          <a:xfrm>
            <a:off x="457200" y="1143000"/>
            <a:ext cx="402336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Reviews arrive in huge volumes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analysis is slow and inconsistent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Rule-based tools miss context and negation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Raw text must be made machine-readable</a:t>
            </a:r>
            <a:endParaRPr lang="en-US" sz="1400" dirty="0"/>
          </a:p>
        </p:txBody>
      </p:sp>
      <p:sp>
        <p:nvSpPr>
          <p:cNvPr id="6" name="solutioncard"/>
          <p:cNvSpPr/>
          <p:nvPr/>
        </p:nvSpPr>
        <p:spPr>
          <a:xfrm>
            <a:off x="4663440" y="1143000"/>
            <a:ext cx="402336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The solution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Automated pipeline: clean text, TF-IDF, classifier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Labels each review positive, negative or neutral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Compares models on accuracy, precision, recall, F1</a:t>
            </a:r>
            <a:endParaRPr lang="en-US" sz="1400" dirty="0"/>
          </a:p>
        </p:txBody>
      </p:sp>
      <p:sp>
        <p:nvSpPr>
          <p:cNvPr id="9" name="whybar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Why traditional ML? A good balance of accuracy, compute cost and interpretability. No GPU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tep1"/>
          <p:cNvSpPr/>
          <p:nvPr/>
        </p:nvSpPr>
        <p:spPr>
          <a:xfrm>
            <a:off x="45720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53035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035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Reviews Dataset</a:t>
            </a:r>
            <a:endParaRPr lang="en-US" sz="1400" dirty="0"/>
          </a:p>
        </p:txBody>
      </p:sp>
      <p:sp>
        <p:nvSpPr>
          <p:cNvPr id="7" name="arrow1"/>
          <p:cNvSpPr/>
          <p:nvPr/>
        </p:nvSpPr>
        <p:spPr>
          <a:xfrm>
            <a:off x="1956816" y="15727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tep2"/>
          <p:cNvSpPr/>
          <p:nvPr/>
        </p:nvSpPr>
        <p:spPr>
          <a:xfrm>
            <a:off x="214884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9" name="badge2"/>
          <p:cNvSpPr/>
          <p:nvPr/>
        </p:nvSpPr>
        <p:spPr>
          <a:xfrm>
            <a:off x="222199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2199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12" name="arrow2"/>
          <p:cNvSpPr/>
          <p:nvPr/>
        </p:nvSpPr>
        <p:spPr>
          <a:xfrm>
            <a:off x="3648456" y="15727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step3"/>
          <p:cNvSpPr/>
          <p:nvPr/>
        </p:nvSpPr>
        <p:spPr>
          <a:xfrm>
            <a:off x="384048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4" name="badge3"/>
          <p:cNvSpPr/>
          <p:nvPr/>
        </p:nvSpPr>
        <p:spPr>
          <a:xfrm>
            <a:off x="391363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1363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Exploratory Analysis</a:t>
            </a:r>
            <a:endParaRPr lang="en-US" sz="1400" dirty="0"/>
          </a:p>
        </p:txBody>
      </p:sp>
      <p:sp>
        <p:nvSpPr>
          <p:cNvPr id="17" name="arrow3"/>
          <p:cNvSpPr/>
          <p:nvPr/>
        </p:nvSpPr>
        <p:spPr>
          <a:xfrm>
            <a:off x="5340096" y="15727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step4"/>
          <p:cNvSpPr/>
          <p:nvPr/>
        </p:nvSpPr>
        <p:spPr>
          <a:xfrm>
            <a:off x="553212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9" name="badge4"/>
          <p:cNvSpPr/>
          <p:nvPr/>
        </p:nvSpPr>
        <p:spPr>
          <a:xfrm>
            <a:off x="560527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0527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Text Preprocessing</a:t>
            </a:r>
            <a:endParaRPr lang="en-US" sz="1400" dirty="0"/>
          </a:p>
        </p:txBody>
      </p:sp>
      <p:sp>
        <p:nvSpPr>
          <p:cNvPr id="22" name="arrow4"/>
          <p:cNvSpPr/>
          <p:nvPr/>
        </p:nvSpPr>
        <p:spPr>
          <a:xfrm>
            <a:off x="7031736" y="15727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step5"/>
          <p:cNvSpPr/>
          <p:nvPr/>
        </p:nvSpPr>
        <p:spPr>
          <a:xfrm>
            <a:off x="7223760" y="11887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4" name="badge5"/>
          <p:cNvSpPr/>
          <p:nvPr/>
        </p:nvSpPr>
        <p:spPr>
          <a:xfrm>
            <a:off x="7296912" y="12618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9691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15361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TF-IDF Features</a:t>
            </a:r>
            <a:endParaRPr lang="en-US" sz="1400" dirty="0"/>
          </a:p>
        </p:txBody>
      </p:sp>
      <p:sp>
        <p:nvSpPr>
          <p:cNvPr id="27" name="step6"/>
          <p:cNvSpPr/>
          <p:nvPr/>
        </p:nvSpPr>
        <p:spPr>
          <a:xfrm>
            <a:off x="457200" y="25603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8" name="badge6"/>
          <p:cNvSpPr/>
          <p:nvPr/>
        </p:nvSpPr>
        <p:spPr>
          <a:xfrm>
            <a:off x="530352" y="26334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3035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Train / Test Split</a:t>
            </a:r>
            <a:endParaRPr lang="en-US" sz="1400" dirty="0"/>
          </a:p>
        </p:txBody>
      </p:sp>
      <p:sp>
        <p:nvSpPr>
          <p:cNvPr id="31" name="arrow6"/>
          <p:cNvSpPr/>
          <p:nvPr/>
        </p:nvSpPr>
        <p:spPr>
          <a:xfrm>
            <a:off x="1956816" y="29443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2" name="step7"/>
          <p:cNvSpPr/>
          <p:nvPr/>
        </p:nvSpPr>
        <p:spPr>
          <a:xfrm>
            <a:off x="2148840" y="25603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33" name="badge7"/>
          <p:cNvSpPr/>
          <p:nvPr/>
        </p:nvSpPr>
        <p:spPr>
          <a:xfrm>
            <a:off x="2221992" y="26334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22199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224028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ML Models: NB, LR, SVM</a:t>
            </a:r>
            <a:endParaRPr lang="en-US" sz="1400" dirty="0"/>
          </a:p>
        </p:txBody>
      </p:sp>
      <p:sp>
        <p:nvSpPr>
          <p:cNvPr id="36" name="arrow7"/>
          <p:cNvSpPr/>
          <p:nvPr/>
        </p:nvSpPr>
        <p:spPr>
          <a:xfrm>
            <a:off x="3648456" y="29443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7" name="step8"/>
          <p:cNvSpPr/>
          <p:nvPr/>
        </p:nvSpPr>
        <p:spPr>
          <a:xfrm>
            <a:off x="3840480" y="25603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38" name="badge8"/>
          <p:cNvSpPr/>
          <p:nvPr/>
        </p:nvSpPr>
        <p:spPr>
          <a:xfrm>
            <a:off x="3913632" y="26334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91363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393192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41" name="arrow8"/>
          <p:cNvSpPr/>
          <p:nvPr/>
        </p:nvSpPr>
        <p:spPr>
          <a:xfrm>
            <a:off x="5340096" y="29443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42" name="step9"/>
          <p:cNvSpPr/>
          <p:nvPr/>
        </p:nvSpPr>
        <p:spPr>
          <a:xfrm>
            <a:off x="5532120" y="2560320"/>
            <a:ext cx="14630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3" name="badge9"/>
          <p:cNvSpPr/>
          <p:nvPr/>
        </p:nvSpPr>
        <p:spPr>
          <a:xfrm>
            <a:off x="5605272" y="2633472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60527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62356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46" name="arrowout"/>
          <p:cNvSpPr/>
          <p:nvPr/>
        </p:nvSpPr>
        <p:spPr>
          <a:xfrm>
            <a:off x="7031736" y="2944368"/>
            <a:ext cx="155448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47" name="pill0"/>
          <p:cNvSpPr/>
          <p:nvPr/>
        </p:nvSpPr>
        <p:spPr>
          <a:xfrm>
            <a:off x="7223760" y="2560320"/>
            <a:ext cx="1463040" cy="283464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223760" y="2560320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Positive</a:t>
            </a:r>
            <a:endParaRPr lang="en-US" sz="1200" dirty="0"/>
          </a:p>
        </p:txBody>
      </p:sp>
      <p:sp>
        <p:nvSpPr>
          <p:cNvPr id="49" name="pill1"/>
          <p:cNvSpPr/>
          <p:nvPr/>
        </p:nvSpPr>
        <p:spPr>
          <a:xfrm>
            <a:off x="7223760" y="2898648"/>
            <a:ext cx="1463040" cy="283464"/>
          </a:xfrm>
          <a:prstGeom prst="roundRect">
            <a:avLst>
              <a:gd name="adj" fmla="val 48387"/>
            </a:avLst>
          </a:prstGeom>
          <a:solidFill>
            <a:schemeClr val="accent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223760" y="289864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Neutral</a:t>
            </a:r>
            <a:endParaRPr lang="en-US" sz="1200" dirty="0"/>
          </a:p>
        </p:txBody>
      </p:sp>
      <p:sp>
        <p:nvSpPr>
          <p:cNvPr id="51" name="pill2"/>
          <p:cNvSpPr/>
          <p:nvPr/>
        </p:nvSpPr>
        <p:spPr>
          <a:xfrm>
            <a:off x="7223760" y="3236976"/>
            <a:ext cx="1463040" cy="283464"/>
          </a:xfrm>
          <a:prstGeom prst="roundRect">
            <a:avLst>
              <a:gd name="adj" fmla="val 48387"/>
            </a:avLst>
          </a:prstGeom>
          <a:solidFill>
            <a:schemeClr val="accent4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223760" y="3236976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Negative</a:t>
            </a:r>
            <a:endParaRPr lang="en-US" sz="1200" dirty="0"/>
          </a:p>
        </p:txBody>
      </p:sp>
      <p:sp>
        <p:nvSpPr>
          <p:cNvPr id="53" name="examplebar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8580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Example: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"The product quality is excellent and I am very satisfied." goes through preprocessing, TF-IDF and the trained model, and returns Positive.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Tools and Requirements</a:t>
            </a:r>
            <a:endParaRPr lang="en-US" sz="3200" dirty="0"/>
          </a:p>
        </p:txBody>
      </p:sp>
      <p:sp>
        <p:nvSpPr>
          <p:cNvPr id="3" name="tool0"/>
          <p:cNvSpPr/>
          <p:nvPr/>
        </p:nvSpPr>
        <p:spPr>
          <a:xfrm>
            <a:off x="45720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307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Python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Language</a:t>
            </a:r>
            <a:endParaRPr lang="en-US" sz="1200" dirty="0"/>
          </a:p>
        </p:txBody>
      </p:sp>
      <p:sp>
        <p:nvSpPr>
          <p:cNvPr id="6" name="tool1"/>
          <p:cNvSpPr/>
          <p:nvPr/>
        </p:nvSpPr>
        <p:spPr>
          <a:xfrm>
            <a:off x="214884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58568" y="1307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Pandas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258568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 handling</a:t>
            </a:r>
            <a:endParaRPr lang="en-US" sz="1200" dirty="0"/>
          </a:p>
        </p:txBody>
      </p:sp>
      <p:sp>
        <p:nvSpPr>
          <p:cNvPr id="9" name="tool2"/>
          <p:cNvSpPr/>
          <p:nvPr/>
        </p:nvSpPr>
        <p:spPr>
          <a:xfrm>
            <a:off x="3840480" y="114300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50208" y="1307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NumPy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50208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Numerics</a:t>
            </a:r>
            <a:endParaRPr lang="en-US" sz="1200" dirty="0"/>
          </a:p>
        </p:txBody>
      </p:sp>
      <p:sp>
        <p:nvSpPr>
          <p:cNvPr id="12" name="tool3"/>
          <p:cNvSpPr/>
          <p:nvPr/>
        </p:nvSpPr>
        <p:spPr>
          <a:xfrm>
            <a:off x="457200" y="224028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Matplotlib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Charts</a:t>
            </a:r>
            <a:endParaRPr lang="en-US" sz="1200" dirty="0"/>
          </a:p>
        </p:txBody>
      </p:sp>
      <p:sp>
        <p:nvSpPr>
          <p:cNvPr id="15" name="tool4"/>
          <p:cNvSpPr/>
          <p:nvPr/>
        </p:nvSpPr>
        <p:spPr>
          <a:xfrm>
            <a:off x="2148840" y="224028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258568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Seaborn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258568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Statistical plots</a:t>
            </a:r>
            <a:endParaRPr lang="en-US" sz="1200" dirty="0"/>
          </a:p>
        </p:txBody>
      </p:sp>
      <p:sp>
        <p:nvSpPr>
          <p:cNvPr id="18" name="tool5"/>
          <p:cNvSpPr/>
          <p:nvPr/>
        </p:nvSpPr>
        <p:spPr>
          <a:xfrm>
            <a:off x="3840480" y="224028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50208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NLTK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Text processing</a:t>
            </a:r>
            <a:endParaRPr lang="en-US" sz="1200" dirty="0"/>
          </a:p>
        </p:txBody>
      </p:sp>
      <p:sp>
        <p:nvSpPr>
          <p:cNvPr id="21" name="tool6"/>
          <p:cNvSpPr/>
          <p:nvPr/>
        </p:nvSpPr>
        <p:spPr>
          <a:xfrm>
            <a:off x="457200" y="333756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Scikit-learn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Models &amp; metrics</a:t>
            </a:r>
            <a:endParaRPr lang="en-US" sz="1200" dirty="0"/>
          </a:p>
        </p:txBody>
      </p:sp>
      <p:sp>
        <p:nvSpPr>
          <p:cNvPr id="24" name="tool7"/>
          <p:cNvSpPr/>
          <p:nvPr/>
        </p:nvSpPr>
        <p:spPr>
          <a:xfrm>
            <a:off x="2148840" y="333756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25856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TF-IDF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25856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Feature extraction</a:t>
            </a:r>
            <a:endParaRPr lang="en-US" sz="1200" dirty="0"/>
          </a:p>
        </p:txBody>
      </p:sp>
      <p:sp>
        <p:nvSpPr>
          <p:cNvPr id="27" name="tool8"/>
          <p:cNvSpPr/>
          <p:nvPr/>
        </p:nvSpPr>
        <p:spPr>
          <a:xfrm>
            <a:off x="3840480" y="333756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95020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Jupyter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950208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Notebook / VS Code</a:t>
            </a:r>
            <a:endParaRPr lang="en-US" sz="1200" dirty="0"/>
          </a:p>
        </p:txBody>
      </p:sp>
      <p:sp>
        <p:nvSpPr>
          <p:cNvPr id="30" name="hwcard"/>
          <p:cNvSpPr/>
          <p:nvPr/>
        </p:nvSpPr>
        <p:spPr>
          <a:xfrm>
            <a:off x="5760720" y="1143000"/>
            <a:ext cx="2926080" cy="315468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Minimum hardware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1783080"/>
            <a:ext cx="2560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Processor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Intel Core i3 / Ryzen 3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RAM and storage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4 GB RAM, 10 GB free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GPU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Not required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Windows / Linux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</a:t>
            </a:r>
            <a:endParaRPr lang="en-US" sz="3200" dirty="0"/>
          </a:p>
        </p:txBody>
      </p:sp>
      <p:sp>
        <p:nvSpPr>
          <p:cNvPr id="3" name="impl0"/>
          <p:cNvSpPr/>
          <p:nvPr/>
        </p:nvSpPr>
        <p:spPr>
          <a:xfrm>
            <a:off x="457200" y="11430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/>
          <p:nvPr/>
        </p:nvSpPr>
        <p:spPr>
          <a:xfrm>
            <a:off x="566928" y="12618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43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reviews CSV with Pandas</a:t>
            </a:r>
            <a:endParaRPr lang="en-US" sz="1400" dirty="0"/>
          </a:p>
        </p:txBody>
      </p:sp>
      <p:sp>
        <p:nvSpPr>
          <p:cNvPr id="7" name="impl1"/>
          <p:cNvSpPr/>
          <p:nvPr/>
        </p:nvSpPr>
        <p:spPr>
          <a:xfrm>
            <a:off x="457200" y="18288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8" name="badge2"/>
          <p:cNvSpPr/>
          <p:nvPr/>
        </p:nvSpPr>
        <p:spPr>
          <a:xfrm>
            <a:off x="566928" y="19476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28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 text: lowercase, strip URLs and symbols</a:t>
            </a:r>
            <a:endParaRPr lang="en-US" sz="1400" dirty="0"/>
          </a:p>
        </p:txBody>
      </p:sp>
      <p:sp>
        <p:nvSpPr>
          <p:cNvPr id="11" name="impl2"/>
          <p:cNvSpPr/>
          <p:nvPr/>
        </p:nvSpPr>
        <p:spPr>
          <a:xfrm>
            <a:off x="457200" y="25146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2" name="badge3"/>
          <p:cNvSpPr/>
          <p:nvPr/>
        </p:nvSpPr>
        <p:spPr>
          <a:xfrm>
            <a:off x="566928" y="26334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Stratified 80/20 train-test split</a:t>
            </a:r>
            <a:endParaRPr lang="en-US" sz="1400" dirty="0"/>
          </a:p>
        </p:txBody>
      </p:sp>
      <p:sp>
        <p:nvSpPr>
          <p:cNvPr id="15" name="impl3"/>
          <p:cNvSpPr/>
          <p:nvPr/>
        </p:nvSpPr>
        <p:spPr>
          <a:xfrm>
            <a:off x="457200" y="32004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6" name="badge4"/>
          <p:cNvSpPr/>
          <p:nvPr/>
        </p:nvSpPr>
        <p:spPr>
          <a:xfrm>
            <a:off x="566928" y="33192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00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TF-IDF with 5,000 features, English stop-words</a:t>
            </a:r>
            <a:endParaRPr lang="en-US" sz="1400" dirty="0"/>
          </a:p>
        </p:txBody>
      </p:sp>
      <p:sp>
        <p:nvSpPr>
          <p:cNvPr id="19" name="impl4"/>
          <p:cNvSpPr/>
          <p:nvPr/>
        </p:nvSpPr>
        <p:spPr>
          <a:xfrm>
            <a:off x="457200" y="3886200"/>
            <a:ext cx="38404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0" name="badge5"/>
          <p:cNvSpPr/>
          <p:nvPr/>
        </p:nvSpPr>
        <p:spPr>
          <a:xfrm>
            <a:off x="566928" y="40050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86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 Logistic Regression and evaluate</a:t>
            </a:r>
            <a:endParaRPr lang="en-US" sz="1400" dirty="0"/>
          </a:p>
        </p:txBody>
      </p:sp>
      <p:sp>
        <p:nvSpPr>
          <p:cNvPr id="23" name="codecard"/>
          <p:cNvSpPr/>
          <p:nvPr/>
        </p:nvSpPr>
        <p:spPr>
          <a:xfrm>
            <a:off x="4480560" y="1143000"/>
            <a:ext cx="4206240" cy="3337560"/>
          </a:xfrm>
          <a:prstGeom prst="roundRect">
            <a:avLst>
              <a:gd name="adj" fmla="val 2740"/>
            </a:avLst>
          </a:prstGeom>
          <a:solidFill>
            <a:schemeClr val="tx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63440" y="1280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Python  |  scikit-learn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16002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preprocess_text(text):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= str(text).lower()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= re.sub(r'http\S+|www\S+', '', text)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= re.sub(r'[^a-zA-Z\s]', '', text)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re.sub(r'\s+', ' ', text).strip()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 = TfidfVectorizer(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max_features=5000,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stop_words="english")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LogisticRegression(max_iter=1000)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model.fit(X_train_tfidf, y_train)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Results: Confusion Matrix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097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Predicted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371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Negative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371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Neutral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371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Positive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Negative</a:t>
            </a:r>
            <a:endParaRPr lang="en-US" sz="1200" dirty="0"/>
          </a:p>
        </p:txBody>
      </p:sp>
      <p:sp>
        <p:nvSpPr>
          <p:cNvPr id="8" name="cm00"/>
          <p:cNvSpPr/>
          <p:nvPr/>
        </p:nvSpPr>
        <p:spPr>
          <a:xfrm>
            <a:off x="1371600" y="1691640"/>
            <a:ext cx="1051560" cy="7315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1,229</a:t>
            </a:r>
            <a:endParaRPr lang="en-US" sz="1600" dirty="0"/>
          </a:p>
        </p:txBody>
      </p:sp>
      <p:sp>
        <p:nvSpPr>
          <p:cNvPr id="10" name="cm01"/>
          <p:cNvSpPr/>
          <p:nvPr/>
        </p:nvSpPr>
        <p:spPr>
          <a:xfrm>
            <a:off x="2468880" y="1691640"/>
            <a:ext cx="1051560" cy="731520"/>
          </a:xfrm>
          <a:prstGeom prst="rect">
            <a:avLst/>
          </a:prstGeom>
          <a:solidFill>
            <a:srgbClr val="C1DCD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6888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230</a:t>
            </a:r>
            <a:endParaRPr lang="en-US" sz="1600" dirty="0"/>
          </a:p>
        </p:txBody>
      </p:sp>
      <p:sp>
        <p:nvSpPr>
          <p:cNvPr id="12" name="cm02"/>
          <p:cNvSpPr/>
          <p:nvPr/>
        </p:nvSpPr>
        <p:spPr>
          <a:xfrm>
            <a:off x="3566160" y="1691640"/>
            <a:ext cx="1051560" cy="731520"/>
          </a:xfrm>
          <a:prstGeom prst="rect">
            <a:avLst/>
          </a:prstGeom>
          <a:solidFill>
            <a:srgbClr val="E3EE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4688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Neutral</a:t>
            </a:r>
            <a:endParaRPr lang="en-US" sz="1200" dirty="0"/>
          </a:p>
        </p:txBody>
      </p:sp>
      <p:sp>
        <p:nvSpPr>
          <p:cNvPr id="15" name="cm10"/>
          <p:cNvSpPr/>
          <p:nvPr/>
        </p:nvSpPr>
        <p:spPr>
          <a:xfrm>
            <a:off x="1371600" y="2468880"/>
            <a:ext cx="1051560" cy="731520"/>
          </a:xfrm>
          <a:prstGeom prst="rect">
            <a:avLst/>
          </a:prstGeom>
          <a:solidFill>
            <a:srgbClr val="7FB8B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71600" y="24688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599</a:t>
            </a:r>
            <a:endParaRPr lang="en-US" sz="1600" dirty="0"/>
          </a:p>
        </p:txBody>
      </p:sp>
      <p:sp>
        <p:nvSpPr>
          <p:cNvPr id="17" name="cm11"/>
          <p:cNvSpPr/>
          <p:nvPr/>
        </p:nvSpPr>
        <p:spPr>
          <a:xfrm>
            <a:off x="2468880" y="2468880"/>
            <a:ext cx="1051560" cy="731520"/>
          </a:xfrm>
          <a:prstGeom prst="rect">
            <a:avLst/>
          </a:prstGeom>
          <a:solidFill>
            <a:srgbClr val="99C6C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468880" y="24688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455</a:t>
            </a:r>
            <a:endParaRPr lang="en-US" sz="1600" dirty="0"/>
          </a:p>
        </p:txBody>
      </p:sp>
      <p:sp>
        <p:nvSpPr>
          <p:cNvPr id="19" name="cm12"/>
          <p:cNvSpPr/>
          <p:nvPr/>
        </p:nvSpPr>
        <p:spPr>
          <a:xfrm>
            <a:off x="3566160" y="2468880"/>
            <a:ext cx="1051560" cy="731520"/>
          </a:xfrm>
          <a:prstGeom prst="rect">
            <a:avLst/>
          </a:prstGeom>
          <a:solidFill>
            <a:srgbClr val="9AC7C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66160" y="24688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446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461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Positive</a:t>
            </a:r>
            <a:endParaRPr lang="en-US" sz="1200" dirty="0"/>
          </a:p>
        </p:txBody>
      </p:sp>
      <p:sp>
        <p:nvSpPr>
          <p:cNvPr id="22" name="cm20"/>
          <p:cNvSpPr/>
          <p:nvPr/>
        </p:nvSpPr>
        <p:spPr>
          <a:xfrm>
            <a:off x="1371600" y="3246120"/>
            <a:ext cx="1051560" cy="731520"/>
          </a:xfrm>
          <a:prstGeom prst="rect">
            <a:avLst/>
          </a:prstGeom>
          <a:solidFill>
            <a:srgbClr val="DAE9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371600" y="3246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89</a:t>
            </a:r>
            <a:endParaRPr lang="en-US" sz="1600" dirty="0"/>
          </a:p>
        </p:txBody>
      </p:sp>
      <p:sp>
        <p:nvSpPr>
          <p:cNvPr id="24" name="cm21"/>
          <p:cNvSpPr/>
          <p:nvPr/>
        </p:nvSpPr>
        <p:spPr>
          <a:xfrm>
            <a:off x="2468880" y="3246120"/>
            <a:ext cx="1051560" cy="731520"/>
          </a:xfrm>
          <a:prstGeom prst="rect">
            <a:avLst/>
          </a:prstGeom>
          <a:solidFill>
            <a:srgbClr val="BEDAD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468880" y="3246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247</a:t>
            </a:r>
            <a:endParaRPr lang="en-US" sz="1600" dirty="0"/>
          </a:p>
        </p:txBody>
      </p:sp>
      <p:sp>
        <p:nvSpPr>
          <p:cNvPr id="26" name="cm22"/>
          <p:cNvSpPr/>
          <p:nvPr/>
        </p:nvSpPr>
        <p:spPr>
          <a:xfrm>
            <a:off x="3566160" y="3246120"/>
            <a:ext cx="1051560" cy="731520"/>
          </a:xfrm>
          <a:prstGeom prst="rect">
            <a:avLst/>
          </a:prstGeom>
          <a:solidFill>
            <a:srgbClr val="1A828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66160" y="3246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1,164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69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Rows: true label. Columns: predicted label.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1097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63.29%</a:t>
            </a:r>
            <a:endParaRPr lang="en-US" sz="54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overall accuracy on 4,500 test reviews</a:t>
            </a:r>
            <a:endParaRPr lang="en-US" sz="14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5029200" y="2194560"/>
          <a:ext cx="36576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akeaway"/>
          <p:cNvSpPr/>
          <p:nvPr/>
        </p:nvSpPr>
        <p:spPr>
          <a:xfrm>
            <a:off x="457200" y="4343400"/>
            <a:ext cx="822960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Neutral is the hardest class: 599 reviews were predicted negative and 446 positive.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and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Built an end-to-end sentiment pipeline: clean, TF-IDF, classify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Hands-on with Python, Pandas, NLTK and Scikit-learn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Reached 63.29% accuracy; neutral class needs work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Gained a full view of the data science lifecycle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6" name="future0"/>
          <p:cNvSpPr/>
          <p:nvPr/>
        </p:nvSpPr>
        <p:spPr>
          <a:xfrm>
            <a:off x="4754880" y="164592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8348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LSTM / GRU deep models</a:t>
            </a:r>
            <a:endParaRPr lang="en-US" sz="1400" dirty="0"/>
          </a:p>
        </p:txBody>
      </p:sp>
      <p:sp>
        <p:nvSpPr>
          <p:cNvPr id="8" name="future1"/>
          <p:cNvSpPr/>
          <p:nvPr/>
        </p:nvSpPr>
        <p:spPr>
          <a:xfrm>
            <a:off x="4754880" y="219456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8348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BERT and transformers</a:t>
            </a:r>
            <a:endParaRPr lang="en-US" sz="1400" dirty="0"/>
          </a:p>
        </p:txBody>
      </p:sp>
      <p:sp>
        <p:nvSpPr>
          <p:cNvPr id="10" name="future2"/>
          <p:cNvSpPr/>
          <p:nvPr/>
        </p:nvSpPr>
        <p:spPr>
          <a:xfrm>
            <a:off x="4754880" y="274320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Multilingual: Tamil, Hindi</a:t>
            </a:r>
            <a:endParaRPr lang="en-US" sz="1400" dirty="0"/>
          </a:p>
        </p:txBody>
      </p:sp>
      <p:sp>
        <p:nvSpPr>
          <p:cNvPr id="12" name="future3"/>
          <p:cNvSpPr/>
          <p:nvPr/>
        </p:nvSpPr>
        <p:spPr>
          <a:xfrm>
            <a:off x="4754880" y="329184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348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Aspect-based sentiment</a:t>
            </a:r>
            <a:endParaRPr lang="en-US" sz="1400" dirty="0"/>
          </a:p>
        </p:txBody>
      </p:sp>
      <p:sp>
        <p:nvSpPr>
          <p:cNvPr id="14" name="future4"/>
          <p:cNvSpPr/>
          <p:nvPr/>
        </p:nvSpPr>
        <p:spPr>
          <a:xfrm>
            <a:off x="4754880" y="3840480"/>
            <a:ext cx="3931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8348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Real-time review streams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Thank you. Questions welcome.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ment Review">
  <a:themeElements>
    <a:clrScheme name="Sentiment Review">
      <a:dk1>
        <a:srgbClr val="1B2A33"/>
      </a:dk1>
      <a:lt1>
        <a:srgbClr val="FFFFFF"/>
      </a:lt1>
      <a:dk2>
        <a:srgbClr val="0B3C49"/>
      </a:dk2>
      <a:lt2>
        <a:srgbClr val="EAF2F4"/>
      </a:lt2>
      <a:accent1>
        <a:srgbClr val="0E7C86"/>
      </a:accent1>
      <a:accent2>
        <a:srgbClr val="2E9E5B"/>
      </a:accent2>
      <a:accent3>
        <a:srgbClr val="E0A526"/>
      </a:accent3>
      <a:accent4>
        <a:srgbClr val="D64545"/>
      </a:accent4>
      <a:accent5>
        <a:srgbClr val="5B6B76"/>
      </a:accent5>
      <a:accent6>
        <a:srgbClr val="7FB7BE"/>
      </a:accent6>
      <a:hlink>
        <a:srgbClr val="0E7C86"/>
      </a:hlink>
      <a:folHlink>
        <a:srgbClr val="5B6B76"/>
      </a:folHlink>
    </a:clrScheme>
    <a:fontScheme name="Sentiment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